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0"/>
            <a:ext cx="1371600" cy="82296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3" name="Shape 1"/>
          <p:cNvSpPr/>
          <p:nvPr/>
        </p:nvSpPr>
        <p:spPr>
          <a:xfrm>
            <a:off x="2377440" y="5120640"/>
            <a:ext cx="1371600" cy="114300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4" name="Shape 2"/>
          <p:cNvSpPr/>
          <p:nvPr/>
        </p:nvSpPr>
        <p:spPr>
          <a:xfrm>
            <a:off x="4297680" y="5120640"/>
            <a:ext cx="1371600" cy="146304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5120640"/>
            <a:ext cx="1371600" cy="82296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5120640"/>
            <a:ext cx="1371600" cy="114300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5120640"/>
            <a:ext cx="1371600" cy="146304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F24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Pulse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CA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Helps People Find Government Welfare Schemes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2926080" cy="0"/>
          </a:xfrm>
          <a:prstGeom prst="line">
            <a:avLst/>
          </a:prstGeom>
          <a:noFill/>
          <a:ln w="19050">
            <a:solidFill>
              <a:srgbClr val="5B7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Hariansh Singhal
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F443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5720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tool that makes it easier for people to find government information, schemes, and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1B3B2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Silos: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details are scattered across 50+ different government websites.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Exclusion: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are written in complex, formal English.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0050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Maze: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are buried in long PDF files that are hard to search.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901184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Search: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 search can't understand what people really mean, like “help for farmers”.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88536" y="13716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13" name="Image 0" descr="icons/target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856" y="1609344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65776" y="162763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2856" y="2029968"/>
            <a:ext cx="30632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Access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bridge the gap between policy intent and citizen benefit.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Trust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give clear answers backed by real, official sources.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88536" y="29718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5B7F4B"/>
          </a:solidFill>
          <a:ln/>
        </p:spPr>
      </p:sp>
      <p:sp>
        <p:nvSpPr>
          <p:cNvPr id="17" name="Text 14"/>
          <p:cNvSpPr/>
          <p:nvPr/>
        </p:nvSpPr>
        <p:spPr>
          <a:xfrm>
            <a:off x="4562856" y="315468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62856" y="3502152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turns complicated government notices into simple, accurate answers.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every citizen through voice, in their own language, on any device — even basic phones.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88536" y="5257800"/>
            <a:ext cx="3611880" cy="640080"/>
          </a:xfrm>
          <a:prstGeom prst="roundRect">
            <a:avLst>
              <a:gd name="adj" fmla="val 12857"/>
            </a:avLst>
          </a:prstGeom>
          <a:solidFill>
            <a:srgbClr val="D9A441"/>
          </a:solidFill>
          <a:ln/>
        </p:spPr>
      </p:sp>
      <p:sp>
        <p:nvSpPr>
          <p:cNvPr id="20" name="Text 17"/>
          <p:cNvSpPr/>
          <p:nvPr/>
        </p:nvSpPr>
        <p:spPr>
          <a:xfrm>
            <a:off x="4517136" y="5257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Reality Check: ~₹80,000 Cr in welfare funds go unclaimed annually.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19872" y="137160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94192" y="1609344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362188" y="2057400"/>
            <a:ext cx="457200" cy="457200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24" name="Image 1" descr="icons/users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628" y="21488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119872" y="2569464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9029700" y="2057400"/>
            <a:ext cx="457200" cy="457200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27" name="Image 2" descr="icons/phone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0" y="214884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87384" y="2569464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Phone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9697212" y="2057400"/>
            <a:ext cx="457200" cy="457200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30" name="Image 3" descr="icons/home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652" y="214884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54896" y="2569464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10364724" y="2057400"/>
            <a:ext cx="457200" cy="457200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33" name="Image 4" descr="icons/map_cr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164" y="214884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122408" y="2569464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750" dirty="0"/>
          </a:p>
        </p:txBody>
      </p:sp>
      <p:sp>
        <p:nvSpPr>
          <p:cNvPr id="35" name="Shape 28"/>
          <p:cNvSpPr/>
          <p:nvPr/>
        </p:nvSpPr>
        <p:spPr>
          <a:xfrm>
            <a:off x="11032236" y="2057400"/>
            <a:ext cx="457200" cy="457200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36" name="Image 5" descr="icons/help_cre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3676" y="214884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789920" y="2569464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8119872" y="329184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1B3B2F"/>
          </a:solidFill>
          <a:ln/>
        </p:spPr>
      </p:sp>
      <p:pic>
        <p:nvPicPr>
          <p:cNvPr id="39" name="Image 6" descr="icons/ey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3566160"/>
            <a:ext cx="420624" cy="4206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394192" y="41605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smartphones and Aadhaar now widespread across India, a voice-first AI system like this is finally possible at national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60020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General LLMs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Govt. Portals (UMANG)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41C"/>
                          </a:solidFill>
                        </a:rPr>
                        <a:t>POLICY PULSE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91F"/>
                          </a:solidFill>
                        </a:rPr>
                        <a:t>Reliability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91F"/>
                          </a:solidFill>
                        </a:rPr>
                        <a:t>Can invent wrong facts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91F"/>
                          </a:solidFill>
                        </a:rPr>
                        <a:t>Official documents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B2F"/>
                          </a:solidFill>
                        </a:rPr>
                        <a:t>Fact-checked logic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91F"/>
                          </a:solidFill>
                        </a:rPr>
                        <a:t>“Why Not” Logic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91F"/>
                          </a:solidFill>
                        </a:rPr>
                        <a:t>Vague, generic advice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91F"/>
                          </a:solidFill>
                        </a:rPr>
                        <a:t>No explanation provided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B2F"/>
                          </a:solidFill>
                        </a:rPr>
                        <a:t>Tells you exactly why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91F"/>
                          </a:solidFill>
                        </a:rPr>
                        <a:t>Audit Trail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91F"/>
                          </a:solidFill>
                        </a:rPr>
                        <a:t>Untraceable answers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91F"/>
                          </a:solidFill>
                        </a:rPr>
                        <a:t>N/A (static links)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B2F"/>
                          </a:solidFill>
                        </a:rPr>
                        <a:t>Every answer shows its source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91F"/>
                          </a:solidFill>
                        </a:rPr>
                        <a:t>Last-Mile Access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91F"/>
                          </a:solidFill>
                        </a:rPr>
                        <a:t>Needs high-speed internet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91F"/>
                          </a:solidFill>
                        </a:rPr>
                        <a:t>App/Website only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B2F"/>
                          </a:solidFill>
                        </a:rPr>
                        <a:t>SMS and Voice optimized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62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PROPOSITIONS</a:t>
            </a:r>
            <a:endParaRPr lang="en-US" sz="1200" dirty="0"/>
          </a:p>
        </p:txBody>
      </p:sp>
      <p:pic>
        <p:nvPicPr>
          <p:cNvPr id="8" name="Image 0" descr="icons/help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4526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Not” Engine –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explains why you do or don't qualify.</a:t>
            </a:r>
            <a:endParaRPr lang="en-US" sz="900" dirty="0"/>
          </a:p>
        </p:txBody>
      </p:sp>
      <p:pic>
        <p:nvPicPr>
          <p:cNvPr id="10" name="Image 1" descr="icons/globe_o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5720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0" y="4526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Multilingual –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naturally in 10+ Indian languages.</a:t>
            </a:r>
            <a:endParaRPr lang="en-US" sz="900" dirty="0"/>
          </a:p>
        </p:txBody>
      </p:sp>
      <p:pic>
        <p:nvPicPr>
          <p:cNvPr id="12" name="Image 2" descr="icons/book_ol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3892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50932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Retrieval-Grounded –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backed by an official source.</a:t>
            </a:r>
            <a:endParaRPr lang="en-US" sz="900" dirty="0"/>
          </a:p>
        </p:txBody>
      </p:sp>
      <p:pic>
        <p:nvPicPr>
          <p:cNvPr id="14" name="Image 3" descr="icons/message_ol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513892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657600" y="50932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Access –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via Web, WhatsApp, SMS, Voice.</a:t>
            </a:r>
            <a:endParaRPr lang="en-US" sz="900" dirty="0"/>
          </a:p>
        </p:txBody>
      </p:sp>
      <p:pic>
        <p:nvPicPr>
          <p:cNvPr id="16" name="Image 4" descr="icons/repeat_oli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705856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566013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–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track of rule changes over time.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6400800" y="1371600"/>
            <a:ext cx="5333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 LOOP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6400800" y="1783080"/>
            <a:ext cx="5333695" cy="777240"/>
          </a:xfrm>
          <a:prstGeom prst="roundRect">
            <a:avLst>
              <a:gd name="adj" fmla="val 9412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537960" y="1929384"/>
            <a:ext cx="475488" cy="475488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21" name="Image 5" descr="icons/mic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2039112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32320" y="1856232"/>
            <a:ext cx="4465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Naturally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7132320" y="2130552"/>
            <a:ext cx="44650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 in Hindi via voice – “mujhe kheti ke liye paise chahiye”</a:t>
            </a:r>
            <a:endParaRPr lang="en-US" sz="850" dirty="0"/>
          </a:p>
        </p:txBody>
      </p:sp>
      <p:sp>
        <p:nvSpPr>
          <p:cNvPr id="24" name="Shape 15"/>
          <p:cNvSpPr/>
          <p:nvPr/>
        </p:nvSpPr>
        <p:spPr>
          <a:xfrm>
            <a:off x="6400800" y="2670048"/>
            <a:ext cx="53336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6537960" y="2816352"/>
            <a:ext cx="475488" cy="475488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26" name="Image 6" descr="icons/search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2926080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32320" y="2743200"/>
            <a:ext cx="4465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7132320" y="3017520"/>
            <a:ext cx="44650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scans 1000+ schemes. Found: PM KISAN Samman Nidhi</a:t>
            </a:r>
            <a:endParaRPr lang="en-US" sz="850" dirty="0"/>
          </a:p>
        </p:txBody>
      </p:sp>
      <p:sp>
        <p:nvSpPr>
          <p:cNvPr id="29" name="Shape 19"/>
          <p:cNvSpPr/>
          <p:nvPr/>
        </p:nvSpPr>
        <p:spPr>
          <a:xfrm>
            <a:off x="6400800" y="3557016"/>
            <a:ext cx="5333695" cy="777240"/>
          </a:xfrm>
          <a:prstGeom prst="roundRect">
            <a:avLst>
              <a:gd name="adj" fmla="val 9412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6537960" y="3703320"/>
            <a:ext cx="475488" cy="475488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31" name="Image 7" descr="icons/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3813048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32320" y="3630168"/>
            <a:ext cx="4465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Rules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7132320" y="3904488"/>
            <a:ext cx="44650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your details – land under 2 hectares? ✅ Yes</a:t>
            </a:r>
            <a:endParaRPr lang="en-US" sz="850" dirty="0"/>
          </a:p>
        </p:txBody>
      </p:sp>
      <p:sp>
        <p:nvSpPr>
          <p:cNvPr id="34" name="Shape 23"/>
          <p:cNvSpPr/>
          <p:nvPr/>
        </p:nvSpPr>
        <p:spPr>
          <a:xfrm>
            <a:off x="6400800" y="4443984"/>
            <a:ext cx="53336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6537960" y="4590288"/>
            <a:ext cx="475488" cy="475488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36" name="Image 8" descr="icons/zap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4700016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132320" y="4517136"/>
            <a:ext cx="4465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Answer</a:t>
            </a:r>
            <a:endParaRPr lang="en-US" sz="1100" dirty="0"/>
          </a:p>
        </p:txBody>
      </p:sp>
      <p:sp>
        <p:nvSpPr>
          <p:cNvPr id="38" name="Text 26"/>
          <p:cNvSpPr/>
          <p:nvPr/>
        </p:nvSpPr>
        <p:spPr>
          <a:xfrm>
            <a:off x="7132320" y="4791456"/>
            <a:ext cx="44650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eligible for ₹6000/year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7F6F1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93392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5B7F4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8424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51660" y="2514600"/>
            <a:ext cx="822960" cy="822960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11" name="Image 0" descr="icons/eye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6974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429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Senses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1520" y="3840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Format Ingestion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42062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official documents, news, and voice input, then automatically cleans up the Hindi or English text.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5440680"/>
            <a:ext cx="3063240" cy="0"/>
          </a:xfrm>
          <a:prstGeom prst="line">
            <a:avLst/>
          </a:prstGeom>
          <a:noFill/>
          <a:ln w="12700">
            <a:solidFill>
              <a:srgbClr val="E1E0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532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Tech: </a:t>
            </a:r>
            <a:pPr indent="0" marL="0">
              <a:buNone/>
            </a:pPr>
            <a:r>
              <a:rPr lang="en-US" sz="9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Speech-to-Text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9768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B3B2F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1993392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0" y="198424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92140" y="2514600"/>
            <a:ext cx="822960" cy="822960"/>
          </a:xfrm>
          <a:prstGeom prst="ellipse">
            <a:avLst/>
          </a:prstGeom>
          <a:solidFill>
            <a:srgbClr val="8CA76E"/>
          </a:solidFill>
          <a:ln/>
        </p:spPr>
      </p:sp>
      <p:pic>
        <p:nvPicPr>
          <p:cNvPr id="21" name="Image 1" descr="icons/cpu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69748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3429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Brain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4572000" y="3840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572000" y="42062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policy for your question, checks if you qualify based on age, income, and other details, and flags outdated rules.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572000" y="5440680"/>
            <a:ext cx="3063240" cy="0"/>
          </a:xfrm>
          <a:prstGeom prst="line">
            <a:avLst/>
          </a:prstGeom>
          <a:noFill/>
          <a:ln w="12700">
            <a:solidFill>
              <a:srgbClr val="8CA76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0" y="5532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Tech: </a:t>
            </a:r>
            <a:pPr indent="0" marL="0">
              <a:buNone/>
            </a:pPr>
            <a:r>
              <a:rPr lang="en-US" sz="95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+ Rule Logic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813816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7F6F1"/>
          </a:solidFill>
          <a:ln/>
        </p:spPr>
      </p:sp>
      <p:sp>
        <p:nvSpPr>
          <p:cNvPr id="28" name="Shape 24"/>
          <p:cNvSpPr/>
          <p:nvPr/>
        </p:nvSpPr>
        <p:spPr>
          <a:xfrm>
            <a:off x="8412480" y="1993392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5B7F4B"/>
          </a:solidFill>
          <a:ln/>
        </p:spPr>
      </p:sp>
      <p:sp>
        <p:nvSpPr>
          <p:cNvPr id="29" name="Text 25"/>
          <p:cNvSpPr/>
          <p:nvPr/>
        </p:nvSpPr>
        <p:spPr>
          <a:xfrm>
            <a:off x="8412480" y="198424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532620" y="2514600"/>
            <a:ext cx="822960" cy="822960"/>
          </a:xfrm>
          <a:prstGeom prst="ellipse">
            <a:avLst/>
          </a:prstGeom>
          <a:solidFill>
            <a:srgbClr val="1B3B2F"/>
          </a:solidFill>
          <a:ln/>
        </p:spPr>
      </p:sp>
      <p:pic>
        <p:nvPicPr>
          <p:cNvPr id="31" name="Image 2" descr="icons/send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697480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138160" y="3429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Voice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8412480" y="3840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8412480" y="420624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result into a simple Yes/No answer, sent via Web, WhatsApp, or SMS in your language.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412480" y="5440680"/>
            <a:ext cx="3063240" cy="0"/>
          </a:xfrm>
          <a:prstGeom prst="line">
            <a:avLst/>
          </a:prstGeom>
          <a:noFill/>
          <a:ln w="12700">
            <a:solidFill>
              <a:srgbClr val="E1E0D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412480" y="5532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Tech: </a:t>
            </a:r>
            <a:pPr indent="0" marL="0">
              <a:buNone/>
            </a:pPr>
            <a:r>
              <a:rPr lang="en-US" sz="9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Wrapper / SMS Interface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5860" y="2240280"/>
            <a:ext cx="731520" cy="731520"/>
          </a:xfrm>
          <a:prstGeom prst="ellipse">
            <a:avLst/>
          </a:prstGeom>
          <a:solidFill>
            <a:srgbClr val="1B3B2F"/>
          </a:solidFill>
          <a:ln/>
        </p:spPr>
      </p:sp>
      <p:sp>
        <p:nvSpPr>
          <p:cNvPr id="9" name="Text 7"/>
          <p:cNvSpPr/>
          <p:nvPr/>
        </p:nvSpPr>
        <p:spPr>
          <a:xfrm>
            <a:off x="116586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10" name="Image 0" descr="icons/send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028" y="315468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6118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Ingestion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41605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 your question (voice or text) and official documents.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87752" y="3547872"/>
            <a:ext cx="201168" cy="14630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4" name="Shape 11"/>
          <p:cNvSpPr/>
          <p:nvPr/>
        </p:nvSpPr>
        <p:spPr>
          <a:xfrm>
            <a:off x="2770632" y="192024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79292" y="2240280"/>
            <a:ext cx="731520" cy="731520"/>
          </a:xfrm>
          <a:prstGeom prst="ellipse">
            <a:avLst/>
          </a:prstGeom>
          <a:solidFill>
            <a:srgbClr val="1B3B2F"/>
          </a:solidFill>
          <a:ln/>
        </p:spPr>
      </p:sp>
      <p:sp>
        <p:nvSpPr>
          <p:cNvPr id="16" name="Text 13"/>
          <p:cNvSpPr/>
          <p:nvPr/>
        </p:nvSpPr>
        <p:spPr>
          <a:xfrm>
            <a:off x="3479292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7" name="Image 1" descr="icons/globe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315468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07792" y="36118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Translation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953512" y="41605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your question into English for accurate matching.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901184" y="3547872"/>
            <a:ext cx="201168" cy="14630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1" name="Shape 17"/>
          <p:cNvSpPr/>
          <p:nvPr/>
        </p:nvSpPr>
        <p:spPr>
          <a:xfrm>
            <a:off x="5084064" y="192024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92724" y="2240280"/>
            <a:ext cx="731520" cy="731520"/>
          </a:xfrm>
          <a:prstGeom prst="ellipse">
            <a:avLst/>
          </a:prstGeom>
          <a:solidFill>
            <a:srgbClr val="1B3B2F"/>
          </a:solidFill>
          <a:ln/>
        </p:spPr>
      </p:sp>
      <p:sp>
        <p:nvSpPr>
          <p:cNvPr id="23" name="Text 19"/>
          <p:cNvSpPr/>
          <p:nvPr/>
        </p:nvSpPr>
        <p:spPr>
          <a:xfrm>
            <a:off x="5792724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2" descr="icons/search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892" y="315468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21224" y="36118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Discovery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266944" y="41605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policy, along with its source.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214616" y="3547872"/>
            <a:ext cx="201168" cy="14630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8" name="Shape 23"/>
          <p:cNvSpPr/>
          <p:nvPr/>
        </p:nvSpPr>
        <p:spPr>
          <a:xfrm>
            <a:off x="7397496" y="192024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106156" y="2240280"/>
            <a:ext cx="731520" cy="731520"/>
          </a:xfrm>
          <a:prstGeom prst="ellipse">
            <a:avLst/>
          </a:prstGeom>
          <a:solidFill>
            <a:srgbClr val="1B3B2F"/>
          </a:solidFill>
          <a:ln/>
        </p:spPr>
      </p:sp>
      <p:sp>
        <p:nvSpPr>
          <p:cNvPr id="30" name="Text 25"/>
          <p:cNvSpPr/>
          <p:nvPr/>
        </p:nvSpPr>
        <p:spPr>
          <a:xfrm>
            <a:off x="8106156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31" name="Image 3" descr="icons/check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324" y="3154680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34656" y="36118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7580376" y="41605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your details against the rules.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9528048" y="3547872"/>
            <a:ext cx="201168" cy="14630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35" name="Shape 29"/>
          <p:cNvSpPr/>
          <p:nvPr/>
        </p:nvSpPr>
        <p:spPr>
          <a:xfrm>
            <a:off x="9710928" y="192024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419588" y="2240280"/>
            <a:ext cx="731520" cy="731520"/>
          </a:xfrm>
          <a:prstGeom prst="ellipse">
            <a:avLst/>
          </a:prstGeom>
          <a:solidFill>
            <a:srgbClr val="1B3B2F"/>
          </a:solidFill>
          <a:ln/>
        </p:spPr>
      </p:sp>
      <p:sp>
        <p:nvSpPr>
          <p:cNvPr id="37" name="Text 31"/>
          <p:cNvSpPr/>
          <p:nvPr/>
        </p:nvSpPr>
        <p:spPr>
          <a:xfrm>
            <a:off x="10419588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38" name="Image 4" descr="icons/repeat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0756" y="3154680"/>
            <a:ext cx="329184" cy="32918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848088" y="36118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Delivery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9893808" y="41605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the answer back into your language.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457200" y="5715000"/>
            <a:ext cx="11277295" cy="640080"/>
          </a:xfrm>
          <a:prstGeom prst="roundRect">
            <a:avLst>
              <a:gd name="adj" fmla="val 11429"/>
            </a:avLst>
          </a:prstGeom>
          <a:solidFill>
            <a:srgbClr val="1B3B2F"/>
          </a:solidFill>
          <a:ln/>
        </p:spPr>
      </p:sp>
      <p:sp>
        <p:nvSpPr>
          <p:cNvPr id="42" name="Text 35"/>
          <p:cNvSpPr/>
          <p:nvPr/>
        </p:nvSpPr>
        <p:spPr>
          <a:xfrm>
            <a:off x="731520" y="571500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Serverless-First,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Preserving,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Retrieval-Grounded, </a:t>
            </a:r>
            <a:pPr indent="0" marL="0">
              <a:buNone/>
            </a:pPr>
            <a:r>
              <a:rPr lang="en-US" sz="110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work even on slow 2G/3G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0F241C"/>
          </a:solidFill>
          <a:ln/>
        </p:spPr>
      </p:sp>
      <p:pic>
        <p:nvPicPr>
          <p:cNvPr id="7" name="Image 0" descr="app_images/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86236"/>
            <a:ext cx="2478024" cy="13938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858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4251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secure sign-in with Google, phone OTP, or Aadhaar — no app-store dependency.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55848" y="141732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0F241C"/>
          </a:solidFill>
          <a:ln/>
        </p:spPr>
      </p:sp>
      <p:pic>
        <p:nvPicPr>
          <p:cNvPr id="11" name="Image 1" descr="app_images/main_interfa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591970"/>
            <a:ext cx="2478024" cy="19824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3858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Interface (Dark Theme)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93008" y="4251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shows previous chat sessions for continuity.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54496" y="141732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0F241C"/>
          </a:solidFill>
          <a:ln/>
        </p:spPr>
      </p:sp>
      <p:pic>
        <p:nvPicPr>
          <p:cNvPr id="15" name="Image 2" descr="app_images/query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1773945"/>
            <a:ext cx="2478024" cy="16184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91656" y="3858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Response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391656" y="4251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chart-backed answer with Drift Detection delivered under 2.7 seconds.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9153144" y="141732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0F241C"/>
          </a:solidFill>
          <a:ln/>
        </p:spPr>
      </p:sp>
      <p:pic>
        <p:nvPicPr>
          <p:cNvPr id="19" name="Image 3" descr="app_images/whatsap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1996280"/>
            <a:ext cx="2478024" cy="11738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90304" y="3858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9290304" y="4251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assistant, zero-install, reachable on any feature phone.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*Interface screenshots are illustrative concept renders for this submission.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7" name="Image 0" descr="icons/message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361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Channels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1874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WhatsApp, SMS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21792" y="2075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880360" y="13716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B3B2F"/>
          </a:solidFill>
          <a:ln/>
        </p:spPr>
      </p:sp>
      <p:pic>
        <p:nvPicPr>
          <p:cNvPr id="12" name="Image 1" descr="icons/serve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5361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146304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044952" y="187452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044952" y="207568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traffic · session context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806440" y="13716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17" name="Image 2" descr="icons/activity_ol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53619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146304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971032" y="187452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5971032" y="207568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· latency monitoring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8732520" y="1371600"/>
            <a:ext cx="2999232" cy="960120"/>
          </a:xfrm>
          <a:prstGeom prst="roundRect">
            <a:avLst>
              <a:gd name="adj" fmla="val 7619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22" name="Image 3" descr="icons/shield_ol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112" y="153619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1463040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897112" y="1874520"/>
            <a:ext cx="2679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Cognito, IAM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897112" y="2075688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session management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57200" y="25603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27" name="Image 4" descr="icons/mic_oli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72491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24128" y="2651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21792" y="30632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Transcribe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621792" y="32644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Audio→Text · Regional→English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2880360" y="2560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32" name="Image 5" descr="icons/database_oli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952" y="2724912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47288" y="265176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3044952" y="306324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DynamoDB, Lambda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3044952" y="32644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embeddings · fast search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806440" y="2560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B3B2F"/>
          </a:solidFill>
          <a:ln/>
        </p:spPr>
      </p:sp>
      <p:pic>
        <p:nvPicPr>
          <p:cNvPr id="37" name="Image 6" descr="icons/cpu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1032" y="2724912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73368" y="265176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5971032" y="306324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Bedrock, Claude 4.5</a:t>
            </a:r>
            <a:endParaRPr lang="en-US" sz="850" dirty="0"/>
          </a:p>
        </p:txBody>
      </p:sp>
      <p:sp>
        <p:nvSpPr>
          <p:cNvPr id="40" name="Text 31"/>
          <p:cNvSpPr/>
          <p:nvPr/>
        </p:nvSpPr>
        <p:spPr>
          <a:xfrm>
            <a:off x="5971032" y="32644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eligibility rules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8732520" y="2560320"/>
            <a:ext cx="2999232" cy="960120"/>
          </a:xfrm>
          <a:prstGeom prst="roundRect">
            <a:avLst>
              <a:gd name="adj" fmla="val 7619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42" name="Image 7" descr="icons/chart_oli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7112" y="2724912"/>
            <a:ext cx="310896" cy="31089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99448" y="2651760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8897112" y="3063240"/>
            <a:ext cx="2679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QuickSight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8897112" y="3264408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Most-searched · policy-gap detection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457200" y="3749040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D9A441"/>
          </a:solidFill>
          <a:ln/>
        </p:spPr>
      </p:sp>
      <p:pic>
        <p:nvPicPr>
          <p:cNvPr id="47" name="Image 8" descr="icons/send_for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3913632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24128" y="38404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Layer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621792" y="425196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</a:t>
            </a:r>
            <a:endParaRPr lang="en-US" sz="850" dirty="0"/>
          </a:p>
        </p:txBody>
      </p:sp>
      <p:sp>
        <p:nvSpPr>
          <p:cNvPr id="50" name="Text 39"/>
          <p:cNvSpPr/>
          <p:nvPr/>
        </p:nvSpPr>
        <p:spPr>
          <a:xfrm>
            <a:off x="621792" y="44531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Yes/No · formatted in local language</a:t>
            </a:r>
            <a:endParaRPr lang="en-US" sz="850" dirty="0"/>
          </a:p>
        </p:txBody>
      </p:sp>
      <p:sp>
        <p:nvSpPr>
          <p:cNvPr id="51" name="Shape 40"/>
          <p:cNvSpPr/>
          <p:nvPr/>
        </p:nvSpPr>
        <p:spPr>
          <a:xfrm>
            <a:off x="6446520" y="5029200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6675120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Sonnet on Amazon Bedrock, Amazon Q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(Python) — zero idle cost, scales instantly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457200" y="502920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0F241C"/>
          </a:solidFill>
          <a:ln/>
        </p:spPr>
      </p:sp>
      <p:pic>
        <p:nvPicPr>
          <p:cNvPr id="54" name="Image 9" descr="icons/layers_go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230368"/>
            <a:ext cx="365760" cy="36576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1188720" y="51206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serverless pipeline: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 or text goes in, and a verified, source-backed answer comes out in your language — in under 2.7 seconds.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3566160"/>
                <a:gridCol w="2743200"/>
                <a:gridCol w="10332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SELECTED TECH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STRATEGIC BENEFIT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ALTERNATIVE (WHY NOT?)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EST. COST/MO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91F"/>
                          </a:solidFill>
                        </a:rPr>
                        <a:t>Reasoning Core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B2F"/>
                          </a:solidFill>
                        </a:rPr>
                        <a:t>Amazon Bedrock (Claude 4.5 Sonnet)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Highest accuracy on ambiguous legal criteria.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Llama 3 — risk of hallucination in govt data.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₹290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91F"/>
                          </a:solidFill>
                        </a:rPr>
                        <a:t>Vector 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B2F"/>
                          </a:solidFill>
                        </a:rPr>
                        <a:t>Amazon DynamoDB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Massive cost savings; scale-ready via Zero-ETL to OpenSearch.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OpenSearch Serverless — ₹29,000/mo, 1400x more.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₹21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91F"/>
                          </a:solidFill>
                        </a:rPr>
                        <a:t>Compute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B2F"/>
                          </a:solidFill>
                        </a:rPr>
                        <a:t>AWS Lambda (Python)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Zero idle cost; scales to 1M queries instantly.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EC2 — wasted budget on 24/7 idle servers.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₹4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91F"/>
                          </a:solidFill>
                        </a:rPr>
                        <a:t>Voice / Input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B2F"/>
                          </a:solidFill>
                        </a:rPr>
                        <a:t>Amazon Transcribe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Native Indian dialect support.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OpenAI Whisper — data sovereignty concerns.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₹125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91F"/>
                          </a:solidFill>
                        </a:rPr>
                        <a:t>Embeddings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B2F"/>
                          </a:solidFill>
                        </a:rPr>
                        <a:t>Titan Text v2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1536-dim vectors optimized for semantic search.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Pinecone — adds vendor complexity &amp; latency.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₹8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91F"/>
                          </a:solidFill>
                        </a:rPr>
                        <a:t>App and Logic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3B2F"/>
                          </a:solidFill>
                        </a:rPr>
                        <a:t>React + Python (FastAPI)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Cross-platform UI + async performance.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Flutter/Node.js — Python libs are superior for AI.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3291F"/>
                          </a:solidFill>
                        </a:rPr>
                        <a:t>₹0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7091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7091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MVP:  </a:t>
            </a:r>
            <a:pPr indent="0" marL="0">
              <a:buNone/>
            </a:pPr>
            <a:r>
              <a:rPr lang="en-US" sz="1300" b="1" dirty="0">
                <a:solidFill>
                  <a:srgbClr val="5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~₹830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4709160"/>
            <a:ext cx="5696712" cy="685800"/>
          </a:xfrm>
          <a:prstGeom prst="roundRect">
            <a:avLst>
              <a:gd name="adj" fmla="val 10667"/>
            </a:avLst>
          </a:prstGeom>
          <a:solidFill>
            <a:srgbClr val="1B3B2F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470916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(EST.):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~₹62,000  (₹0.06 per query)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pay-per-use, serverless AWS services chosen to keep marginal cost near zero at scale.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SPARK-12  ·  JAIPUR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91295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1B3B2F"/>
          </a:solidFill>
          <a:ln/>
        </p:spPr>
      </p:sp>
      <p:pic>
        <p:nvPicPr>
          <p:cNvPr id="8" name="Image 0" descr="icons/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933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85800" y="3035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33649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a source, so there's no misinformation.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55848" y="173736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13" name="Image 1" descr="icons/trending_o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9339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B7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₹80,000 Cr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3584448" y="3035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Velocity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584448" y="33649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people claim more of the ₹80,000 Cr that goes unused every year.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54496" y="173736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1B3B2F"/>
          </a:solidFill>
          <a:ln/>
        </p:spPr>
      </p:sp>
      <p:pic>
        <p:nvPicPr>
          <p:cNvPr id="18" name="Image 2" descr="icons/glob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99339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309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300M+</a:t>
            </a:r>
            <a:endParaRPr lang="en-US" sz="2500" dirty="0"/>
          </a:p>
        </p:txBody>
      </p:sp>
      <p:sp>
        <p:nvSpPr>
          <p:cNvPr id="20" name="Text 15"/>
          <p:cNvSpPr/>
          <p:nvPr/>
        </p:nvSpPr>
        <p:spPr>
          <a:xfrm>
            <a:off x="6483096" y="3035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Equity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83096" y="33649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government help accessible to non-English speakers too.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153144" y="173736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23" name="Image 3" descr="icons/clock_ol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199339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81744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B7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sec</a:t>
            </a:r>
            <a:endParaRPr lang="en-US" sz="2500" dirty="0"/>
          </a:p>
        </p:txBody>
      </p:sp>
      <p:sp>
        <p:nvSpPr>
          <p:cNvPr id="25" name="Text 19"/>
          <p:cNvSpPr/>
          <p:nvPr/>
        </p:nvSpPr>
        <p:spPr>
          <a:xfrm>
            <a:off x="9381744" y="3035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Efficiency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381744" y="33649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 45-minute manual search down to just seconds.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4297680"/>
            <a:ext cx="11277295" cy="1005840"/>
          </a:xfrm>
          <a:prstGeom prst="roundRect">
            <a:avLst>
              <a:gd name="adj" fmla="val 7273"/>
            </a:avLst>
          </a:prstGeom>
          <a:solidFill>
            <a:srgbClr val="F7F6F1"/>
          </a:solidFill>
          <a:ln w="12700">
            <a:solidFill>
              <a:srgbClr val="E1E0D6"/>
            </a:solidFill>
            <a:prstDash val="solid"/>
          </a:ln>
        </p:spPr>
      </p:sp>
      <p:pic>
        <p:nvPicPr>
          <p:cNvPr id="28" name="Image 4" descr="icons/layers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2628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4389120"/>
            <a:ext cx="102714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3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Model: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 can be reused by any state government and easily expanded to cover new schemes.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94960"/>
            <a:ext cx="1371600" cy="64008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3" name="Shape 1"/>
          <p:cNvSpPr/>
          <p:nvPr/>
        </p:nvSpPr>
        <p:spPr>
          <a:xfrm>
            <a:off x="2377440" y="5394960"/>
            <a:ext cx="1371600" cy="91440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4" name="Shape 2"/>
          <p:cNvSpPr/>
          <p:nvPr/>
        </p:nvSpPr>
        <p:spPr>
          <a:xfrm>
            <a:off x="4297680" y="5394960"/>
            <a:ext cx="1371600" cy="118872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5394960"/>
            <a:ext cx="1371600" cy="64008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5394960"/>
            <a:ext cx="1371600" cy="91440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5394960"/>
            <a:ext cx="1371600" cy="1188720"/>
          </a:xfrm>
          <a:prstGeom prst="rect">
            <a:avLst/>
          </a:prstGeom>
          <a:solidFill>
            <a:srgbClr val="1B3B2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F241C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Pulse  —  HackIndia Spark-12, Jaipur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3794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404 not found  ·  Hariansh Singhal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2026-08-16T06:55:39Z</dcterms:created>
  <dcterms:modified xsi:type="dcterms:W3CDTF">2026-08-16T06:55:39Z</dcterms:modified>
</cp:coreProperties>
</file>